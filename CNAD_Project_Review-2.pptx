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57" r:id="rId3"/>
    <p:sldId id="904" r:id="rId4"/>
    <p:sldId id="259" r:id="rId5"/>
    <p:sldId id="903" r:id="rId6"/>
    <p:sldId id="258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F904-3F1F-4281-A9E1-C2FB746B8BF7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6D309-B4D5-4527-B36F-A10579509D53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5E381-5B31-4AF8-B2D5-825A2871D21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F223-DE04-43B3-A1CA-82C024222846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C939F-6452-40B3-8B30-A5C8AB6A0DFC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805D-913B-4F6D-902C-E5136FBF0E0C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B214-4124-49D8-A24E-DBA27A6445C3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956CC-F7C8-47FB-89A1-FBAE32B2A8EB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10B40-B78B-4C4B-BDCF-3CB98651AC41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C7294-1103-4E07-87C3-AC60860F3AE3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BE44B-A080-444E-B2F8-66835D348D22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361054"/>
              </p:ext>
            </p:extLst>
          </p:nvPr>
        </p:nvGraphicFramePr>
        <p:xfrm>
          <a:off x="8193271" y="4898509"/>
          <a:ext cx="370205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dirty="0">
                          <a:solidFill>
                            <a:srgbClr val="403011"/>
                          </a:solidFill>
                          <a:latin typeface="Times New Roman" panose="02020603050405020304" pitchFamily="18" charset="0"/>
                          <a:ea typeface="Brygada 1918" pitchFamily="34" charset="-122"/>
                          <a:cs typeface="Times New Roman" panose="02020603050405020304" pitchFamily="18" charset="0"/>
                        </a:rPr>
                        <a:t>KOUSHIK – 2420030232                                                   NRUSIMHA – 2420030114                                                   SOHAN SAI - 2420090139 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991828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Mr. Madhu Guda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ts val="810"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1D8D-77C0-43B9-9B5F-E46EDA00679A}" type="datetime1">
              <a:rPr lang="en-US" b="1" smtClean="0"/>
              <a:t>9/23/2026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CNAD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505065" y="975485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Healthcare Appointment and Patient Management System</a:t>
            </a:r>
            <a:endParaRPr lang="en-US" sz="3600" dirty="0">
              <a:solidFill>
                <a:schemeClr val="bg1"/>
              </a:solidFill>
              <a:latin typeface="Calibri" panose="020F0502020204030204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199745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2E8B8-54AE-F861-D576-B62C19A5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E259-4615-46D4-A3BD-7CF5E55937D6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DF040-570B-E40C-28DD-48ACF477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50DC-5C76-3221-3705-A7713237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2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B58DBC-97DD-CAE2-6032-D8BF2561F46C}"/>
              </a:ext>
            </a:extLst>
          </p:cNvPr>
          <p:cNvSpPr/>
          <p:nvPr/>
        </p:nvSpPr>
        <p:spPr>
          <a:xfrm>
            <a:off x="3834920" y="136525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0E053-04EC-2B6B-A2BE-32EFD4C848B4}"/>
              </a:ext>
            </a:extLst>
          </p:cNvPr>
          <p:cNvSpPr txBox="1"/>
          <p:nvPr/>
        </p:nvSpPr>
        <p:spPr>
          <a:xfrm>
            <a:off x="382385" y="1249840"/>
            <a:ext cx="1135518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Healthcare appointment management often involves </a:t>
            </a:r>
            <a:r>
              <a:rPr lang="en-IN" sz="2000" b="1" dirty="0"/>
              <a:t>separate processes</a:t>
            </a:r>
            <a:r>
              <a:rPr lang="en-IN" sz="2000" dirty="0"/>
              <a:t> for patient registration, doctor availability, appointment booking, and patient information management.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Traditional/manual workflows can lead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Appointment scheduling conflicts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Difficulty tracking doctor availability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Repeated patient-data entry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Delays in appointment confirmation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Inefficient coordination between patients and healthcare providers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Fragmented management of patient information </a:t>
            </a:r>
          </a:p>
          <a:p>
            <a:endParaRPr lang="en-IN" sz="2000" b="1" dirty="0"/>
          </a:p>
          <a:p>
            <a:r>
              <a:rPr lang="en-IN" sz="2000" b="1" dirty="0"/>
              <a:t>Problem:</a:t>
            </a:r>
            <a:r>
              <a:rPr lang="en-IN" sz="2000" dirty="0"/>
              <a:t> There is a need for an </a:t>
            </a:r>
            <a:r>
              <a:rPr lang="en-IN" sz="2000" b="1" dirty="0"/>
              <a:t>integrated, secure, and scalable healthcare platform</a:t>
            </a:r>
            <a:r>
              <a:rPr lang="en-IN" sz="2000" dirty="0"/>
              <a:t> that connects patients, doctors, appointments, medical records, billing, and notifications through a unified system.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EEB40-C85E-539B-4987-2AC1A2A6B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805D-913B-4F6D-902C-E5136FBF0E0C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0A4CD2-A0F2-12EE-53C6-99D6BF757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B99FD-8CEA-584A-AEA7-0603B01E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14CA16-D114-A727-8461-469B208894D8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Solution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1939B-9D22-19B9-9AFA-D512FC51B907}"/>
              </a:ext>
            </a:extLst>
          </p:cNvPr>
          <p:cNvSpPr txBox="1"/>
          <p:nvPr/>
        </p:nvSpPr>
        <p:spPr>
          <a:xfrm>
            <a:off x="688157" y="1187777"/>
            <a:ext cx="1078426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Smart Healthcare Appointment and Patient Management System : </a:t>
            </a:r>
          </a:p>
          <a:p>
            <a:endParaRPr lang="en-IN" sz="2000" dirty="0"/>
          </a:p>
          <a:p>
            <a:pPr lvl="0"/>
            <a:r>
              <a:rPr lang="en-IN" sz="2000" b="1" u="sng" dirty="0"/>
              <a:t>Centralized Platform</a:t>
            </a:r>
            <a:r>
              <a:rPr lang="en-IN" sz="2000" u="sng" dirty="0"/>
              <a:t> </a:t>
            </a:r>
            <a:r>
              <a:rPr lang="en-IN" sz="2000" dirty="0"/>
              <a:t>– Manage patients, doctors, appointments, medical records, billing, and notifications. </a:t>
            </a:r>
          </a:p>
          <a:p>
            <a:pPr lvl="0"/>
            <a:endParaRPr lang="en-IN" sz="2000" dirty="0"/>
          </a:p>
          <a:p>
            <a:pPr lvl="0"/>
            <a:r>
              <a:rPr lang="en-IN" sz="2000" b="1" u="sng" dirty="0"/>
              <a:t>Smart Appointment Management</a:t>
            </a:r>
            <a:r>
              <a:rPr lang="en-IN" sz="2000" u="sng" dirty="0"/>
              <a:t> </a:t>
            </a:r>
            <a:r>
              <a:rPr lang="en-IN" sz="2000" dirty="0"/>
              <a:t>– Check doctor availability and book, reschedule, or cancel appointments. </a:t>
            </a:r>
          </a:p>
          <a:p>
            <a:pPr lvl="0"/>
            <a:endParaRPr lang="en-IN" sz="2000" dirty="0"/>
          </a:p>
          <a:p>
            <a:pPr lvl="0"/>
            <a:r>
              <a:rPr lang="en-IN" sz="2000" b="1" u="sng" dirty="0"/>
              <a:t>Role-Based Access</a:t>
            </a:r>
            <a:r>
              <a:rPr lang="en-IN" sz="2000" u="sng" dirty="0"/>
              <a:t> </a:t>
            </a:r>
            <a:r>
              <a:rPr lang="en-IN" sz="2000" dirty="0"/>
              <a:t>– Separate functionality for patients, doctors, and administrators. </a:t>
            </a:r>
          </a:p>
          <a:p>
            <a:pPr lvl="0"/>
            <a:endParaRPr lang="en-IN" sz="2000" dirty="0"/>
          </a:p>
          <a:p>
            <a:pPr lvl="0"/>
            <a:r>
              <a:rPr lang="en-IN" sz="2000" b="1" u="sng" dirty="0"/>
              <a:t>Microservices Architecture</a:t>
            </a:r>
            <a:r>
              <a:rPr lang="en-IN" sz="2000" u="sng" dirty="0"/>
              <a:t> </a:t>
            </a:r>
            <a:r>
              <a:rPr lang="en-IN" sz="2000" dirty="0"/>
              <a:t>– Independent services for authentication, patients, doctors, appointments, records, billing, and notifications. </a:t>
            </a:r>
          </a:p>
          <a:p>
            <a:pPr lvl="0"/>
            <a:endParaRPr lang="en-IN" sz="2000" dirty="0"/>
          </a:p>
          <a:p>
            <a:pPr lvl="0"/>
            <a:r>
              <a:rPr lang="en-IN" sz="2000" b="1" u="sng" dirty="0"/>
              <a:t>Secure &amp; Scalable</a:t>
            </a:r>
            <a:r>
              <a:rPr lang="en-IN" sz="2000" u="sng" dirty="0"/>
              <a:t> </a:t>
            </a:r>
            <a:r>
              <a:rPr lang="en-IN" sz="2000" dirty="0"/>
              <a:t>– JWT authentication with Docker and Kubernetes for deployment and scalability.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083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788A6-87D6-D1AD-CD09-882273D2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8917A-4773-4F0C-BADF-AB7FA9859A31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4A259-1A89-35BF-04C0-AB6DECF4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5C214-DB26-4476-F790-7E558BB6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FE5EF9-EC7B-4BF5-92FE-E68EC6C8C5B2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 stack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85EEF-54DF-4C8C-FDF9-6156740E6103}"/>
              </a:ext>
            </a:extLst>
          </p:cNvPr>
          <p:cNvSpPr txBox="1"/>
          <p:nvPr/>
        </p:nvSpPr>
        <p:spPr>
          <a:xfrm>
            <a:off x="923827" y="1178729"/>
            <a:ext cx="107842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🐍 Python + </a:t>
            </a:r>
            <a:r>
              <a:rPr lang="en-IN" b="1" dirty="0" err="1"/>
              <a:t>FastAPI</a:t>
            </a:r>
            <a:br>
              <a:rPr lang="en-IN" dirty="0"/>
            </a:br>
            <a:r>
              <a:rPr lang="en-IN" dirty="0"/>
              <a:t>Backend development and REST API implementation</a:t>
            </a:r>
          </a:p>
          <a:p>
            <a:r>
              <a:rPr lang="en-IN" b="1" dirty="0"/>
              <a:t>🧩 Microservices</a:t>
            </a:r>
            <a:br>
              <a:rPr lang="en-IN" dirty="0"/>
            </a:br>
            <a:r>
              <a:rPr lang="en-IN" dirty="0"/>
              <a:t>Independent services for authentication, patients, doctors, appointments, medical records, billing, and notifications</a:t>
            </a:r>
          </a:p>
          <a:p>
            <a:r>
              <a:rPr lang="en-IN" b="1" dirty="0"/>
              <a:t>🗄️ PostgreSQL</a:t>
            </a:r>
            <a:br>
              <a:rPr lang="en-IN" dirty="0"/>
            </a:br>
            <a:r>
              <a:rPr lang="en-IN" dirty="0"/>
              <a:t>Persistent storage and database management</a:t>
            </a:r>
          </a:p>
          <a:p>
            <a:r>
              <a:rPr lang="en-IN" b="1" dirty="0"/>
              <a:t>🔐 JWT Authentication</a:t>
            </a:r>
            <a:br>
              <a:rPr lang="en-IN" dirty="0"/>
            </a:br>
            <a:r>
              <a:rPr lang="en-IN" dirty="0"/>
              <a:t>Secure login and authenticated access</a:t>
            </a:r>
          </a:p>
          <a:p>
            <a:r>
              <a:rPr lang="en-IN" b="1" dirty="0"/>
              <a:t>🐳 Docker</a:t>
            </a:r>
            <a:br>
              <a:rPr lang="en-IN" dirty="0"/>
            </a:br>
            <a:r>
              <a:rPr lang="en-IN" dirty="0"/>
              <a:t>Containerization of individual services</a:t>
            </a:r>
          </a:p>
          <a:p>
            <a:r>
              <a:rPr lang="en-IN" b="1" dirty="0"/>
              <a:t>☸️ Kubernetes</a:t>
            </a:r>
            <a:br>
              <a:rPr lang="en-IN" dirty="0"/>
            </a:br>
            <a:r>
              <a:rPr lang="en-IN" dirty="0"/>
              <a:t>Deployment, service management, and scalability</a:t>
            </a:r>
          </a:p>
          <a:p>
            <a:r>
              <a:rPr lang="en-IN" b="1" dirty="0"/>
              <a:t>📧 Email Notifications</a:t>
            </a:r>
            <a:br>
              <a:rPr lang="en-IN" dirty="0"/>
            </a:br>
            <a:r>
              <a:rPr lang="en-IN" dirty="0"/>
              <a:t>Appointment confirmations, reminders, and updates</a:t>
            </a:r>
          </a:p>
          <a:p>
            <a:r>
              <a:rPr lang="en-IN" b="1" dirty="0"/>
              <a:t>Architecture Flow:</a:t>
            </a:r>
            <a:endParaRPr lang="en-IN" dirty="0"/>
          </a:p>
          <a:p>
            <a:r>
              <a:rPr lang="en-IN" b="1" dirty="0" err="1"/>
              <a:t>Fontend</a:t>
            </a:r>
            <a:r>
              <a:rPr lang="en-IN" b="1" dirty="0"/>
              <a:t> → REST APIs → Microservices → PostgreSQL</a:t>
            </a:r>
            <a:r>
              <a:rPr lang="en-IN" sz="2400" b="1" dirty="0"/>
              <a:t> -&gt; </a:t>
            </a:r>
            <a:r>
              <a:rPr lang="en-IN" b="1" dirty="0"/>
              <a:t>Docker → Kubernetes → Deployment &amp; Scaling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EEFAC-0ECA-A18F-A4B4-033D3711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99FE-9025-4738-A866-75F92FF5600E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FD4BC-7EB9-607E-38E4-8C64E6E1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C535C-1312-10F3-FBDA-B7001433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5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DE4BBA-6735-AAC4-BA57-E76FE3B3CF7A}"/>
              </a:ext>
            </a:extLst>
          </p:cNvPr>
          <p:cNvSpPr/>
          <p:nvPr/>
        </p:nvSpPr>
        <p:spPr>
          <a:xfrm>
            <a:off x="3845080" y="122680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AFC2A-1099-212B-6DBD-5E0F2DDA0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241" y="831123"/>
            <a:ext cx="6482798" cy="592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F7CC6-A232-6F78-D877-F4139E33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076-AD1E-4D44-9D37-ACCF737AE8A4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B73B0-000A-32FB-5643-CD5676D4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1E0BD-2CF1-90B0-91FF-80A6376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6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00B50F-4223-2213-E4CD-57D228BCA0B6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EDAB2-4293-44C4-7C23-EB2A7C8BE6EF}"/>
              </a:ext>
            </a:extLst>
          </p:cNvPr>
          <p:cNvSpPr txBox="1"/>
          <p:nvPr/>
        </p:nvSpPr>
        <p:spPr>
          <a:xfrm>
            <a:off x="1216059" y="1233979"/>
            <a:ext cx="11359299" cy="494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/>
              <a:t>Patient 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Patient opens the application.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Creates an account by providing required details.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Login credentials are authenticated.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system generates a secure authentication token.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Patient is redirected to the patient dashboard.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/>
              <a:t>Doctor 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Doctor logs into the system.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Authentication service verifies the credentials.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Doctor accesses the doctor dashboard.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Doctor can manage availability, appointments, and patient records.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/>
              <a:t>Admin 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Administrator logs into the system.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Admin authentication is verified.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Admin accesses the administration dashboard.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Admin can monitor and manage system activities.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838200" y="1423447"/>
            <a:ext cx="1039855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Future Scope :</a:t>
            </a:r>
          </a:p>
          <a:p>
            <a:endParaRPr lang="en-IN" sz="2400" b="1" u="sng" dirty="0"/>
          </a:p>
          <a:p>
            <a:pPr lvl="0"/>
            <a:r>
              <a:rPr lang="en-IN" sz="2400" dirty="0"/>
              <a:t>AI-powered doctor recommendations </a:t>
            </a:r>
          </a:p>
          <a:p>
            <a:pPr lvl="0"/>
            <a:r>
              <a:rPr lang="en-IN" sz="2400" dirty="0"/>
              <a:t>Telemedicine integration </a:t>
            </a:r>
          </a:p>
          <a:p>
            <a:pPr lvl="0"/>
            <a:r>
              <a:rPr lang="en-IN" sz="2400" dirty="0"/>
              <a:t>Mobile application </a:t>
            </a:r>
          </a:p>
          <a:p>
            <a:pPr lvl="0"/>
            <a:r>
              <a:rPr lang="en-IN" sz="2400" dirty="0"/>
              <a:t>Smart notifications </a:t>
            </a:r>
          </a:p>
          <a:p>
            <a:pPr lvl="0"/>
            <a:r>
              <a:rPr lang="en-IN" sz="2400" dirty="0"/>
              <a:t>Advanced analytics </a:t>
            </a:r>
          </a:p>
          <a:p>
            <a:pPr lvl="0"/>
            <a:r>
              <a:rPr lang="en-IN" sz="2400" dirty="0"/>
              <a:t>Cloud scalability </a:t>
            </a:r>
          </a:p>
          <a:p>
            <a:pPr lvl="0"/>
            <a:r>
              <a:rPr lang="en-IN" sz="2400" dirty="0"/>
              <a:t>Enhanced security </a:t>
            </a:r>
          </a:p>
          <a:p>
            <a:pPr lvl="0"/>
            <a:endParaRPr lang="en-IN" sz="2400" dirty="0"/>
          </a:p>
          <a:p>
            <a:r>
              <a:rPr lang="en-IN" sz="2400" b="1" dirty="0"/>
              <a:t>“Towards a smarter, secure, and connected healthcare ecosystem.”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FF3A1-5C1B-139E-D79A-72B88478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EC70D-1363-E80E-D957-B7196CB1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1C404-5E3A-5943-D47B-EDA9706D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A611A3-C40B-C4D0-FC5B-A6E3CFDFC96B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493</Words>
  <Application>Microsoft Office PowerPoint</Application>
  <PresentationFormat>Widescreen</PresentationFormat>
  <Paragraphs>97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SOHAN NAIDU</cp:lastModifiedBy>
  <cp:revision>39</cp:revision>
  <dcterms:created xsi:type="dcterms:W3CDTF">2026-08-08T06:33:56Z</dcterms:created>
  <dcterms:modified xsi:type="dcterms:W3CDTF">2026-09-23T03:42:58Z</dcterms:modified>
</cp:coreProperties>
</file>